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302B63"/>
          </a:solidFill>
          <a:ln w="12700">
            <a:solidFill>
              <a:srgbClr val="302B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200400"/>
            <a:ext cx="2011680" cy="201168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SQL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LangChain, Groq &amp; SQLite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66344" y="196596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4C1D95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Retrieval Augmented Generation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130552" y="196596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4C1D95"/>
          </a:solidFill>
          <a:ln/>
        </p:spPr>
      </p:sp>
      <p:sp>
        <p:nvSpPr>
          <p:cNvPr id="10" name="Text 8"/>
          <p:cNvSpPr/>
          <p:nvPr/>
        </p:nvSpPr>
        <p:spPr>
          <a:xfrm>
            <a:off x="2130552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Vector Database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794760" y="196596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4C1D95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Open-Source LLMs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58968" y="196596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5458968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SQL Agent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23176" y="196596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4C1D95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LangChain 0.3+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2423160"/>
            <a:ext cx="3931920" cy="2331720"/>
          </a:xfrm>
          <a:prstGeom prst="rect">
            <a:avLst/>
          </a:prstGeom>
          <a:solidFill>
            <a:srgbClr val="1E1B4B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542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📄 RAG Mode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Upload PDFs, CSVs, or text files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Chunk → Embed → Store in ChromaDB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Ask questions → retrieve context → LLM answers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Cites source chunks used for each answer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2423160"/>
            <a:ext cx="3931920" cy="2331720"/>
          </a:xfrm>
          <a:prstGeom prst="rect">
            <a:avLst/>
          </a:prstGeom>
          <a:solidFill>
            <a:srgbClr val="1E2A4A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2542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🗄️ SQL Agent Mode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9260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Auto-created SQLite database (4 tables)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Ask questions in plain English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Agent writes + executes SQL automatically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Returns formatted, readable results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Module 8  ·  Retrieval Augmented Generation  ·  LangChain 0.3+  ·  Open-Source LLMs via Groq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 to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Retrieval Augmented Generation?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1417320"/>
          </a:xfrm>
          <a:prstGeom prst="rect">
            <a:avLst/>
          </a:prstGeom>
          <a:solidFill>
            <a:srgbClr val="3B1515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❌  The Problem with Plain LLMs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Knowledge is frozen at training cutoff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Cannot access your private documents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Tends to hallucinate when uncertain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92040" y="1234440"/>
            <a:ext cx="3931920" cy="1417320"/>
          </a:xfrm>
          <a:prstGeom prst="rect">
            <a:avLst/>
          </a:prstGeom>
          <a:solidFill>
            <a:srgbClr val="0F2D1F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✅  How RAG Solves This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6459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Retrieves relevant context before answering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Grounds answers in your actual documents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Can cite sources for every answer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The RAG Pipeline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246120"/>
            <a:ext cx="12344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Documents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611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PDF / CSV / TXT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54480" y="365760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4208" y="3246120"/>
            <a:ext cx="1234440" cy="82296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64208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Chunking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64208" y="3611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Split into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pieces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98648" y="365760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8376" y="3246120"/>
            <a:ext cx="1234440" cy="82296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08376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Embeddings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08376" y="3611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Convert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vectors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42816" y="365760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52544" y="3246120"/>
            <a:ext cx="123444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52544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Vector Store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52544" y="3611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ChromaDB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index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86984" y="365760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96712" y="3246120"/>
            <a:ext cx="1234440" cy="8229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96712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Retrieval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96712" y="3611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Find relevant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chunks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931152" y="365760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3246120"/>
            <a:ext cx="1234440" cy="82296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LLM Answer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40880" y="3611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Generate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D7FF"/>
                </a:solidFill>
              </a:rPr>
              <a:t>response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1E1B4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793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💡  Key insight: The LLM never needs to memorise your data — it retrieves it on demand. This makes RAG accurate, updatable, and auditable.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Document Indexing &amp; Vector DB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Document Indexing &amp; Vector Databases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Step 1 — Document Loaders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4114800" cy="594360"/>
          </a:xfrm>
          <a:prstGeom prst="rect">
            <a:avLst/>
          </a:prstGeom>
          <a:solidFill>
            <a:srgbClr val="1E1B4B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64208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6420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7190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PDF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385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PyPDFLoader — extracts text per page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114800" cy="594360"/>
          </a:xfrm>
          <a:prstGeom prst="rect">
            <a:avLst/>
          </a:prstGeom>
          <a:solidFill>
            <a:srgbClr val="1E1B4B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7744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7744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4323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CSV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517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CSVLoader — each row becomes a document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4114800" cy="594360"/>
          </a:xfrm>
          <a:prstGeom prst="rect">
            <a:avLst/>
          </a:prstGeom>
          <a:solidFill>
            <a:srgbClr val="1E1B4B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90672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9067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1455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TXT / MD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3649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TextLoader — plain text ingestion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4114800" cy="594360"/>
          </a:xfrm>
          <a:prstGeom prst="rect">
            <a:avLst/>
          </a:prstGeom>
          <a:solidFill>
            <a:srgbClr val="1E1B4B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03904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8587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0782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WebBaseLoader — scrape URLs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Step 2 — Chunking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664208"/>
            <a:ext cx="4114800" cy="1051560"/>
          </a:xfrm>
          <a:prstGeom prst="rect">
            <a:avLst/>
          </a:prstGeom>
          <a:solidFill>
            <a:srgbClr val="1E2A4A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RecursiveCharacterTextSplitter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202996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chunk_size = 1000 characters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chunk_overlap = 150 (preserves context at boundaries)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Splits on paragraphs → sentences → words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Step 3 — Embeddings &amp; Vector Store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3200400"/>
            <a:ext cx="4114800" cy="1097280"/>
          </a:xfrm>
          <a:prstGeom prst="rect">
            <a:avLst/>
          </a:prstGeom>
          <a:solidFill>
            <a:srgbClr val="0D2D2A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273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</a:rPr>
              <a:t>HuggingFaceEmbeddings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547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Model: all-MiniLM-L6-v2  ·  Runs locally  ·  No API key needed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</a:rPr>
              <a:t>ChromaDB Vector Store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40507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Stores embeddings  ·  Cosine similarity search  ·  Returns top-K chunks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46320"/>
            <a:ext cx="8503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Weaviate is a production-grade alternative to ChromaDB — it adds multi-modal search, cloud hosting, and enterprise-grade scalability.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LangChain RAG Components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LangChain Components for RAG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667512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893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ChatGroq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5087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langchain-groq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4632" y="16642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LLM wrapper for open-source models (LLaMA 3, Gemma 2) via Groq API. Handles text generation with temperature and token control.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90288" y="1234440"/>
            <a:ext cx="4160520" cy="667512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1234440"/>
            <a:ext cx="64008" cy="6675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93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ChatPromptTemplate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langchain-core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Structures the prompt with system instructions, a MessagesPlaceholder for history, and the human input. Ensures consistent LLM instructions.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4160520" cy="667512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11680"/>
            <a:ext cx="64008" cy="667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0665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HuggingFaceEmbeddings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22860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langchain-huggingface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" y="24414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Converts text chunks into dense vector representations using all-MiniLM-L6-v2. Runs locally — no API key required.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2011680"/>
            <a:ext cx="4160520" cy="667512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2011680"/>
            <a:ext cx="64008" cy="6675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0665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Chroma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langchain-community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24414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In-memory vector store. Indexes chunk embeddings and finds the most semantically similar chunks for any query using cosine similarity.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788920"/>
            <a:ext cx="4160520" cy="667512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88920"/>
            <a:ext cx="64008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28437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create_retrieval_chain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30632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" y="32186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Connects the retriever and document QA chain into one pipeline: query → retrieve chunks → stuff into prompt → LLM → answer.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90288" y="2788920"/>
            <a:ext cx="4160520" cy="667512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90288" y="2788920"/>
            <a:ext cx="64008" cy="6675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437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create_stuff_documents_chain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0632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32186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Takes retrieved document chunks and 'stuffs' them all into the LLM context window along with the user's question.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566160"/>
            <a:ext cx="4160520" cy="667512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566160"/>
            <a:ext cx="64008" cy="6675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36210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RunnableWithMessageHistory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" y="384048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langchain-core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" y="39959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Wraps any chain with persistent conversation history. Enables multi-turn conversations by injecting past messages automatically.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90288" y="3566160"/>
            <a:ext cx="4160520" cy="667512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90288" y="3566160"/>
            <a:ext cx="64008" cy="667512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6210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RecursiveCharacterTextSplitter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0" y="384048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langchain-text-splitters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39959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Splits documents into overlapping chunks. Tries paragraph → sentence → word boundaries to keep semantically related content together.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RAG Chain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the RAG Chain Works —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solidFill>
            <a:srgbClr val="2D1B69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INDEXING PIPELINE  (runs once when documents are uploaded)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965960" cy="868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1. Load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PyPDFLoader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CSVLoader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TextLoader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2011680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572768"/>
            <a:ext cx="1965960" cy="86868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2. Split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42032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Recursive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Character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Splitter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2011680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572768"/>
            <a:ext cx="1965960" cy="8686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90872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3. Embed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90872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HuggingFace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all-MiniLM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-L6-v2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2011680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572768"/>
            <a:ext cx="1965960" cy="868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39712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4. Store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39712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ChromaDB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vector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D7FF"/>
                </a:solidFill>
              </a:rPr>
              <a:t>index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8503920" cy="256032"/>
          </a:xfrm>
          <a:prstGeom prst="rect">
            <a:avLst/>
          </a:prstGeom>
          <a:solidFill>
            <a:srgbClr val="1E2A4A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78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QUERY PIPELINE  (runs for every user question)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89504"/>
            <a:ext cx="1965960" cy="86868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3192" y="2916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User Query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" y="32095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Natural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language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question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0" y="3319272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2889504"/>
            <a:ext cx="1965960" cy="86868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42032" y="2916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Embed Query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42032" y="32095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Same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as indexing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(MiniLM)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4840" y="3319272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2889504"/>
            <a:ext cx="1965960" cy="868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90872" y="2916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7. Similarity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90872" y="32095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Top-4 most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relevant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chunks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0" y="3319272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2889504"/>
            <a:ext cx="1965960" cy="868680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39712" y="2916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8. LLM Answer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39712" y="32095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ChatGroq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LLaMA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Groq API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0040" y="38862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How Context is Injected into the Prompt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0040" y="4224528"/>
            <a:ext cx="2743200" cy="777240"/>
          </a:xfrm>
          <a:prstGeom prst="rect">
            <a:avLst/>
          </a:prstGeom>
          <a:solidFill>
            <a:srgbClr val="2D1B69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System Message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" y="44622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You are a helpful assistant. Answer only from the provided context. Context from documents: {context}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82112" y="4224528"/>
            <a:ext cx="2743200" cy="777240"/>
          </a:xfrm>
          <a:prstGeom prst="rect">
            <a:avLst/>
          </a:prstGeom>
          <a:solidFill>
            <a:srgbClr val="1E2A4A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Chat History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73552" y="44622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MessagesPlaceholder injects previous turns for multi-turn memory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44184" y="4224528"/>
            <a:ext cx="2743200" cy="777240"/>
          </a:xfrm>
          <a:prstGeom prst="rect">
            <a:avLst/>
          </a:prstGeom>
          <a:solidFill>
            <a:srgbClr val="1A2E1A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35624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Human Input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35624" y="44622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The user's current question: {input}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Database 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SQL Database Agent — Natural Language to SQL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What the SQL Agent Does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114800" cy="457200"/>
          </a:xfrm>
          <a:prstGeom prst="rect">
            <a:avLst/>
          </a:prstGeom>
          <a:solidFill>
            <a:srgbClr val="1E2A4A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45920"/>
            <a:ext cx="6400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🗣️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User asks a question in plain English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4114800" cy="457200"/>
          </a:xfrm>
          <a:prstGeom prst="rect">
            <a:avLst/>
          </a:prstGeom>
          <a:solidFill>
            <a:srgbClr val="1E2A4A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76272"/>
            <a:ext cx="6400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1762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Agent inspects the database schema automatically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706624"/>
            <a:ext cx="4114800" cy="457200"/>
          </a:xfrm>
          <a:prstGeom prst="rect">
            <a:avLst/>
          </a:prstGeom>
          <a:solidFill>
            <a:srgbClr val="1E2A4A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06624"/>
            <a:ext cx="6400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0662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70662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Agent writes the correct SQL query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4114800" cy="457200"/>
          </a:xfrm>
          <a:prstGeom prst="rect">
            <a:avLst/>
          </a:prstGeom>
          <a:solidFill>
            <a:srgbClr val="1E2A4A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36976"/>
            <a:ext cx="6400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3697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▶️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23697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Agent executes the query against SQLite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4114800" cy="457200"/>
          </a:xfrm>
          <a:prstGeom prst="rect">
            <a:avLst/>
          </a:prstGeom>
          <a:solidFill>
            <a:srgbClr val="1E2A4A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67328"/>
            <a:ext cx="6400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6732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76732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Agent formats and returns a readable answer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297680"/>
            <a:ext cx="4114800" cy="457200"/>
          </a:xfrm>
          <a:prstGeom prst="rect">
            <a:avLst/>
          </a:prstGeom>
          <a:solidFill>
            <a:srgbClr val="1E2A4A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97680"/>
            <a:ext cx="6400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976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42976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Agent self-corrects if the first query fails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916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Sample SQLite Database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1645920"/>
            <a:ext cx="4114800" cy="566928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645920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6824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🗄️ employees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188366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id, name, department, role, salary, hire_date, city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818120" y="168249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12 rows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286000"/>
            <a:ext cx="4114800" cy="566928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286000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3225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🗄️ departments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25237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id, name, budget, location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818120" y="232257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5 rows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2926080"/>
            <a:ext cx="4114800" cy="566928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926080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9626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🗄️ products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46320" y="316382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id, name, category, price, stock, supplier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818120" y="29626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10 rows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566160"/>
            <a:ext cx="4114800" cy="566928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566160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60273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🗄️ orders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46320" y="380390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id, customer, employee_id, order_date, total, status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818120" y="36027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10 rows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4206240"/>
            <a:ext cx="4114800" cy="566928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4206240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424281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🗄️ order_items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46320" y="444398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id, order_id, product_id, quantity, unit_price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818120" y="424281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18 rows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Agent — ReAct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the SQL Agent Reasons — The ReAct Loop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LangChain SQL Components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9344"/>
            <a:ext cx="4114800" cy="731520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9344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642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SQLDatabase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9280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langchain-community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0391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Wraps SQLite. Exposes schema info and query execution to the agent tools.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432304"/>
            <a:ext cx="4114800" cy="731520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32304"/>
            <a:ext cx="64008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871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SQLDatabaseToolkit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71576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langchain-community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862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Provides 4 tools: list_tables, schema_info, query_sql, query_checker.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255264"/>
            <a:ext cx="4114800" cy="731520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55264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101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create_sql_agent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53872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langchain-community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6850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Builds a ReAct agent pre-configured for SQL tasks. Handles the full loop.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4078224"/>
            <a:ext cx="4114800" cy="731520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78224"/>
            <a:ext cx="64008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1330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ChatGroq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36168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langchain-groq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5079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The LLM that reasons, writes SQL, and interprets results.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9160" y="1261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The ReAct Reasoning Loop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609344"/>
            <a:ext cx="4114800" cy="493776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609344"/>
            <a:ext cx="64008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645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Question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18288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"Who are the top 3 highest paid employees?"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41080" y="2103120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176272"/>
            <a:ext cx="4114800" cy="493776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176272"/>
            <a:ext cx="64008" cy="49377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2128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Thought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23957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 need to query the employees table ordered by salary DESC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41080" y="2670048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743200"/>
            <a:ext cx="4114800" cy="493776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743200"/>
            <a:ext cx="6400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7797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29626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list_tables → schema_info(employees) → query_sql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41080" y="3236976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310128"/>
            <a:ext cx="4114800" cy="493776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3310128"/>
            <a:ext cx="64008" cy="4937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3467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Observation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46320" y="35295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Returns rows: Arjun Kumar 115000, Ananya Singh 105000...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641080" y="3803904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877056"/>
            <a:ext cx="4114800" cy="493776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3877056"/>
            <a:ext cx="64008" cy="4937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9136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Thought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46320" y="40965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 have the data. I can now format the final answer.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641080" y="4370832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4443984"/>
            <a:ext cx="4114800" cy="493776"/>
          </a:xfrm>
          <a:prstGeom prst="rect">
            <a:avLst/>
          </a:prstGeom>
          <a:solidFill>
            <a:srgbClr val="1E2A4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4443984"/>
            <a:ext cx="64008" cy="4937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44805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Answer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46320" y="46634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Top 3: 1. Arjun Kumar (₹115,000)  2. Ananya Singh (₹105,000)  3. Priya Sharma (₹95,000)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Embeddings Explained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Understanding Embeddings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530352"/>
          </a:xfrm>
          <a:prstGeom prst="rect">
            <a:avLst/>
          </a:prstGeom>
          <a:solidFill>
            <a:srgbClr val="1E1B4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</a:rPr>
              <a:t>An embedding is a list of numbers (a vector) that captures the meaning of a piece of text. Similar meanings → similar vectors → similar positions in vector space.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743200" cy="2377440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920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 → Numbers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3317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"The cat sat" → [0.23, -0.15, 0.87, 0.02, ...] (384 numbers)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Every piece of text becomes a point in high-dimensional space.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3584448"/>
            <a:ext cx="2514600" cy="566928"/>
          </a:xfrm>
          <a:prstGeom prst="rect">
            <a:avLst/>
          </a:prstGeom>
          <a:solidFill>
            <a:srgbClr val="0F0C29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78BFA"/>
                </a:solidFill>
              </a:rPr>
              <a:t>💡 Same concept, different words → nearby vectors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1920240"/>
            <a:ext cx="2743200" cy="2377440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920240"/>
            <a:ext cx="27432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1920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Similarity 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00984" y="23317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Cosine similarity measures the angle between two vectors.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Vectors pointing in the same direction = semantically similar text.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00984" y="3584448"/>
            <a:ext cx="2514600" cy="566928"/>
          </a:xfrm>
          <a:prstGeom prst="rect">
            <a:avLst/>
          </a:prstGeom>
          <a:solidFill>
            <a:srgbClr val="0F0C29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78BFA"/>
                </a:solidFill>
              </a:rPr>
              <a:t>💡 Query vector vs. all stored chunk vectors → top-K matches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44184" y="1920240"/>
            <a:ext cx="2743200" cy="2377440"/>
          </a:xfrm>
          <a:prstGeom prst="rect">
            <a:avLst/>
          </a:prstGeom>
          <a:solidFill>
            <a:srgbClr val="1A1740"/>
          </a:solidFill>
          <a:ln w="635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44184" y="192024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920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It Works for RAG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63056" y="23317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"What is the revenue?" and "total income" map to similar vectors.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No exact keyword match needed — pure semantic meaning.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3584448"/>
            <a:ext cx="2514600" cy="566928"/>
          </a:xfrm>
          <a:prstGeom prst="rect">
            <a:avLst/>
          </a:prstGeom>
          <a:solidFill>
            <a:srgbClr val="0F0C29"/>
          </a:solidFill>
          <a:ln w="6350">
            <a:solidFill>
              <a:srgbClr val="3730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78BFA"/>
                </a:solidFill>
              </a:rPr>
              <a:t>💡 Finds the right chunk even with different wording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4297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Embedding Model Used in This Project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617720"/>
            <a:ext cx="8503920" cy="438912"/>
          </a:xfrm>
          <a:prstGeom prst="rect">
            <a:avLst/>
          </a:prstGeom>
          <a:solidFill>
            <a:srgbClr val="0D2D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EAD4"/>
                </a:solidFill>
              </a:rPr>
              <a:t>sentence-transformers/all-MiniLM-L6-v2  ·  384 dimensions  ·  ~90MB  ·  Runs on CPU  ·  No API key  ·  Production-ready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302B63"/>
          </a:solidFill>
          <a:ln w="12700">
            <a:solidFill>
              <a:srgbClr val="30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Summary &amp;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Getting Started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984248"/>
            <a:ext cx="475488" cy="475488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Get free Groq API key at console.groq.com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578608"/>
            <a:ext cx="475488" cy="475488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57860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Create .env file:  GROQ_API_KEY=gsk_...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172968"/>
            <a:ext cx="475488" cy="47548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317296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pip install -r requirements.txt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767328"/>
            <a:ext cx="475488" cy="47548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376732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python -m streamlit run rag_sql_app.py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4361688"/>
            <a:ext cx="475488" cy="475488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4361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436168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Upload docs (RAG) or ask SQL questions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Key Learning Outcomes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2057400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011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Build a complete RAG pipeline from scratch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450592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4048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Index PDFs, CSVs, and text into a vector store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843784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79806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Use free local embeddings (no API key needed)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236976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19125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Create a SQL agent that writes its own queries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30168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58444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Apply LangChain 0.3+ LCEL architecture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4023360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977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Deploy open-source LLMs via Groq for free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4416552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43708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Enable multi-turn conversation memory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LangChain 0.3+  ·  Groq API  ·  ChromaDB  ·  HuggingFace Embeddings  ·  SQLite  ·  Streamlit  ·  Open-Source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+ SQL Agent with LangChain</dc:title>
  <dc:subject>PptxGenJS Presentation</dc:subject>
  <dc:creator>Agentic AI Course</dc:creator>
  <cp:lastModifiedBy>Agentic AI Course</cp:lastModifiedBy>
  <cp:revision>1</cp:revision>
  <dcterms:created xsi:type="dcterms:W3CDTF">2026-03-21T09:10:56Z</dcterms:created>
  <dcterms:modified xsi:type="dcterms:W3CDTF">2026-03-21T09:10:56Z</dcterms:modified>
</cp:coreProperties>
</file>